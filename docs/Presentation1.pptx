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theme/theme7.xml" ContentType="application/vnd.openxmlformats-officedocument.theme+xml"/>
  <Override PartName="/ppt/slideLayouts/slideLayout3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4"/>
    <p:sldMasterId id="2147483830" r:id="rId5"/>
    <p:sldMasterId id="2147483861" r:id="rId6"/>
    <p:sldMasterId id="2147483864" r:id="rId7"/>
    <p:sldMasterId id="2147483867" r:id="rId8"/>
    <p:sldMasterId id="2147483870" r:id="rId9"/>
    <p:sldMasterId id="2147483872" r:id="rId10"/>
    <p:sldMasterId id="2147483874" r:id="rId11"/>
  </p:sldMasterIdLst>
  <p:notesMasterIdLst>
    <p:notesMasterId r:id="rId32"/>
  </p:notesMasterIdLst>
  <p:handoutMasterIdLst>
    <p:handoutMasterId r:id="rId33"/>
  </p:handoutMasterIdLst>
  <p:sldIdLst>
    <p:sldId id="269" r:id="rId12"/>
    <p:sldId id="317" r:id="rId13"/>
    <p:sldId id="258" r:id="rId14"/>
    <p:sldId id="318" r:id="rId15"/>
    <p:sldId id="319" r:id="rId16"/>
    <p:sldId id="321" r:id="rId17"/>
    <p:sldId id="322" r:id="rId18"/>
    <p:sldId id="320" r:id="rId19"/>
    <p:sldId id="314" r:id="rId20"/>
    <p:sldId id="323" r:id="rId21"/>
    <p:sldId id="324" r:id="rId22"/>
    <p:sldId id="325" r:id="rId23"/>
    <p:sldId id="330" r:id="rId24"/>
    <p:sldId id="331" r:id="rId25"/>
    <p:sldId id="332" r:id="rId26"/>
    <p:sldId id="333" r:id="rId27"/>
    <p:sldId id="326" r:id="rId28"/>
    <p:sldId id="327" r:id="rId29"/>
    <p:sldId id="328" r:id="rId30"/>
    <p:sldId id="329" r:id="rId3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25D6F17-1F20-4177-95D8-B9960514CB4D}">
          <p14:sldIdLst>
            <p14:sldId id="269"/>
            <p14:sldId id="317"/>
            <p14:sldId id="258"/>
            <p14:sldId id="318"/>
            <p14:sldId id="319"/>
            <p14:sldId id="321"/>
            <p14:sldId id="322"/>
            <p14:sldId id="320"/>
            <p14:sldId id="314"/>
            <p14:sldId id="323"/>
            <p14:sldId id="324"/>
          </p14:sldIdLst>
        </p14:section>
        <p14:section name="Layer 1" id="{C0D480EF-A6E9-47D3-BE52-CDD40920531E}">
          <p14:sldIdLst>
            <p14:sldId id="325"/>
            <p14:sldId id="330"/>
            <p14:sldId id="331"/>
            <p14:sldId id="332"/>
            <p14:sldId id="333"/>
          </p14:sldIdLst>
        </p14:section>
        <p14:section name="Layer 2" id="{DD166777-B5ED-45C3-871D-176D2853F3B5}">
          <p14:sldIdLst>
            <p14:sldId id="326"/>
            <p14:sldId id="327"/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DCF3"/>
    <a:srgbClr val="8BE3E9"/>
    <a:srgbClr val="80E7DA"/>
    <a:srgbClr val="00B9E7"/>
    <a:srgbClr val="00CFB5"/>
    <a:srgbClr val="17C7D2"/>
    <a:srgbClr val="48C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27" autoAdjust="0"/>
  </p:normalViewPr>
  <p:slideViewPr>
    <p:cSldViewPr snapToGrid="0" showGuides="1">
      <p:cViewPr varScale="1">
        <p:scale>
          <a:sx n="86" d="100"/>
          <a:sy n="86" d="100"/>
        </p:scale>
        <p:origin x="108" y="3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976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D951DE-4340-452E-ADF6-B97CCDD84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>
              <a:latin typeface="Georgia" panose="02040502050405020303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3FEFF-60F7-4479-B020-9A4DC055CA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>
              <a:latin typeface="Georgia" panose="02040502050405020303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37437-CF6E-483B-BD85-D534E4871F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E7A50-C1A1-481A-BE2C-8F5D40F7AE39}" type="slidenum">
              <a:rPr lang="sv-SE" smtClean="0">
                <a:latin typeface="Georgia" panose="02040502050405020303" pitchFamily="18" charset="0"/>
              </a:rPr>
              <a:t>‹#›</a:t>
            </a:fld>
            <a:endParaRPr lang="sv-SE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50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eorgia" panose="02040502050405020303" pitchFamily="18" charset="0"/>
              </a:defRPr>
            </a:lvl1pPr>
          </a:lstStyle>
          <a:p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eorgia" panose="02040502050405020303" pitchFamily="18" charset="0"/>
              </a:defRPr>
            </a:lvl1pPr>
          </a:lstStyle>
          <a:p>
            <a:fld id="{4689C00A-E98B-4D3D-966F-67E40EEA2846}" type="datetimeFigureOut">
              <a:rPr lang="sv-SE" smtClean="0"/>
              <a:pPr/>
              <a:t>2025-11-03</a:t>
            </a:fld>
            <a:endParaRPr lang="sv-S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eorgia" panose="02040502050405020303" pitchFamily="18" charset="0"/>
              </a:defRPr>
            </a:lvl1pPr>
          </a:lstStyle>
          <a:p>
            <a:endParaRPr lang="sv-S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eorgia" panose="02040502050405020303" pitchFamily="18" charset="0"/>
              </a:defRPr>
            </a:lvl1pPr>
          </a:lstStyle>
          <a:p>
            <a:fld id="{CDA9542A-FB14-4843-A197-824CFEAE5C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9352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8841-27B1-7BE1-E0F7-18CF1767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7BAA6A3E-06BA-AF0D-15D3-2D8760A31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CDC3DBD3-D5CF-591D-5277-6B9FBC506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E46FB498-61CB-08B7-3C6B-5E087EB1D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9542A-FB14-4843-A197-824CFEAE5CFD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31575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9542A-FB14-4843-A197-824CFEAE5CFD}" type="slidenum">
              <a:rPr lang="sv-SE" smtClean="0"/>
              <a:pPr/>
              <a:t>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42012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CAC2612-C8B1-42B4-8DBC-352812E7AC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A0010DC6-E377-7790-1362-C8CEAF5D2A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C0DDFE-EF99-75B2-C385-884FCD41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963DC-C9E7-8520-C8F2-5D4A54072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9634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CAC2612-C8B1-42B4-8DBC-352812E7AC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C0DDFE-EF99-75B2-C385-884FCD41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963DC-C9E7-8520-C8F2-5D4A54072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5501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C06882-422C-4DDF-B0C6-829A56687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pic>
        <p:nvPicPr>
          <p:cNvPr id="4" name="Bildobjekt 3">
            <a:extLst>
              <a:ext uri="{FF2B5EF4-FFF2-40B4-BE49-F238E27FC236}">
                <a16:creationId xmlns:a16="http://schemas.microsoft.com/office/drawing/2014/main" id="{AC2A8890-BD71-63EA-F5BB-7A2CEB9104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F475BF-A9F3-4048-2700-3B2F4FCD6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CAA865E-3A6B-5A70-25A4-118668A14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9798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C06882-422C-4DDF-B0C6-829A56687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F475BF-A9F3-4048-2700-3B2F4FCD6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CAA865E-3A6B-5A70-25A4-118668A14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94100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255562-1BA5-47E2-B332-7AD9148213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D274-9D58-4C59-BF24-08319E8A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0F05-7C42-444D-A0D8-253894224E88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F1B3-BEF7-476C-9C24-6F6824C2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CECA-8742-4DDD-8038-0C0682EA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97412D-A184-8ACF-2096-E7D48516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9242"/>
            <a:ext cx="10515600" cy="190975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AE4C71D-1FA8-A27F-B94F-F53F1C979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02800"/>
            <a:ext cx="10515600" cy="262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4033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96C9-5579-4CED-A338-A836AEE0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92263" y="0"/>
            <a:ext cx="2520000" cy="360000"/>
          </a:xfrm>
        </p:spPr>
        <p:txBody>
          <a:bodyPr/>
          <a:lstStyle/>
          <a:p>
            <a:fld id="{C2E58C01-D356-4F4A-A4C8-16C5BA87BC39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41CD-1A6A-456B-BCAE-4B73471B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F9EE-7694-4BC1-BDBC-514D317E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2263" y="0"/>
            <a:ext cx="432000" cy="360000"/>
          </a:xfrm>
        </p:spPr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5">
            <a:extLst>
              <a:ext uri="{FF2B5EF4-FFF2-40B4-BE49-F238E27FC236}">
                <a16:creationId xmlns:a16="http://schemas.microsoft.com/office/drawing/2014/main" id="{D2B6CEC0-7FA1-4DD6-9711-E98236C44181}"/>
              </a:ext>
            </a:extLst>
          </p:cNvPr>
          <p:cNvCxnSpPr>
            <a:cxnSpLocks/>
          </p:cNvCxnSpPr>
          <p:nvPr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AD2338D-B85A-45B3-B14F-0709EED2F1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D7C0572-FE79-E8CF-B5FB-99BF2BED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2D4395-98C3-8985-DAD6-69287FA3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254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9089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DECF-AB46-421A-B3EA-954167E5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4391-E399-D04A-970E-1B294DA7E1AE}" type="datetime1">
              <a:rPr lang="sv-SE" smtClean="0"/>
              <a:t>2025-11-03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B67D-8CC2-4E5B-BF93-6B7E5BF4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80C1-A5DA-4E08-8CAE-B47DD97A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5">
            <a:extLst>
              <a:ext uri="{FF2B5EF4-FFF2-40B4-BE49-F238E27FC236}">
                <a16:creationId xmlns:a16="http://schemas.microsoft.com/office/drawing/2014/main" id="{1DBCDB3C-6D20-4691-BDE2-381FEEBC114C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84D6708-EF0F-1F67-87B3-27E3288CC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580969B-BB7F-BF5F-305E-C5E4FA9B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AEC93B-A239-D232-9F3F-E04D134A3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9"/>
            <a:ext cx="5181600" cy="4241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162F109-2911-EF62-EF8C-8AD44F75C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254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000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B86A-85B7-4456-A609-BB084D0B2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F90C-385D-A748-A2FE-753BA8C86ECF}" type="datetime1">
              <a:rPr lang="sv-SE" smtClean="0"/>
              <a:t>2025-11-03</a:t>
            </a:fld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CCA9-80F4-4FE7-B4FD-9FB65454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13" name="Rak 5">
            <a:extLst>
              <a:ext uri="{FF2B5EF4-FFF2-40B4-BE49-F238E27FC236}">
                <a16:creationId xmlns:a16="http://schemas.microsoft.com/office/drawing/2014/main" id="{EC927C92-6210-4B4D-895A-19AADBEF8F6E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362B491-D480-49A0-9C8D-2642CBE415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C1FC548-26ED-7611-7FBA-4184F4A6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B01C68F-1BB7-AD24-D54A-D48A808BF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DD8337C-0E88-07E2-171E-A0C2F4D57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85"/>
            <a:ext cx="5157787" cy="35716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726D009-5E39-A848-6372-FD2DED175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DBBA711-0224-5844-316C-B2F9CE29A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85"/>
            <a:ext cx="5183188" cy="35684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4625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82EEB-76C9-46A2-8992-24100BBA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6AD-E4B1-8441-AB11-F0949BE4F47F}" type="datetime1">
              <a:rPr lang="sv-SE" smtClean="0"/>
              <a:t>2025-11-03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3176-8332-460F-839F-8C36305C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BA3FD-78E6-4451-96E1-12B31AC3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5">
            <a:extLst>
              <a:ext uri="{FF2B5EF4-FFF2-40B4-BE49-F238E27FC236}">
                <a16:creationId xmlns:a16="http://schemas.microsoft.com/office/drawing/2014/main" id="{95DA7626-B115-4C4F-9B3C-FE5B663044E7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A45B905-FAB7-4519-A692-CD3C1A292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03A21B-3B8D-F4A4-99D4-DB980A77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844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CBC0-C319-4952-8F5C-99292872E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6DD3-10AD-3843-8837-DAD5D1FB9627}" type="datetime1">
              <a:rPr lang="sv-SE" smtClean="0"/>
              <a:t>2025-11-03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394A-EC6D-4B1F-8267-B06B1013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F935-E895-4D21-A182-6E15EDC7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5">
            <a:extLst>
              <a:ext uri="{FF2B5EF4-FFF2-40B4-BE49-F238E27FC236}">
                <a16:creationId xmlns:a16="http://schemas.microsoft.com/office/drawing/2014/main" id="{97E9F04A-B552-451B-920C-ED4546809656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BC935F5-ACDF-4ECA-9A0C-8F35071979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EBBB-5F59-4CE5-8F95-88A1C188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07CF-3F93-FE49-A8D3-ABDB1108DA96}" type="datetime1">
              <a:rPr lang="sv-SE" smtClean="0"/>
              <a:t>2025-11-03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4F3F-4FD6-423B-8630-86753663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012F-A692-4BBB-B0E2-A40D6C39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26" name="Rak 5">
            <a:extLst>
              <a:ext uri="{FF2B5EF4-FFF2-40B4-BE49-F238E27FC236}">
                <a16:creationId xmlns:a16="http://schemas.microsoft.com/office/drawing/2014/main" id="{125440BF-FF8E-4F55-AC91-862AB2B62D8D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EF03451-BC14-4473-990F-4190E39B8B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F627F5-B8FA-7392-F155-3ABDD010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E6854E-FDB5-BE64-1C2F-B104DC69D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50925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81132D2-EAC7-2184-7E66-0F2EF666E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27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19C-D6E1-438D-B01E-CF6E63D0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B0B-1212-EE43-A2E4-E9759D8662FA}" type="datetime1">
              <a:rPr lang="sv-SE" smtClean="0"/>
              <a:t>2025-11-03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FECA-0FDF-4E93-B1B1-6CF623CF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D90-D9E3-425D-B3DC-406845F9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5">
            <a:extLst>
              <a:ext uri="{FF2B5EF4-FFF2-40B4-BE49-F238E27FC236}">
                <a16:creationId xmlns:a16="http://schemas.microsoft.com/office/drawing/2014/main" id="{65E233A8-C457-415A-B25B-AC4916975090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BBD564E-3114-43F0-A6F3-FEFE2A009F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4148781-01E4-BEAA-8834-2DE13A74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3CC195B-1009-38F9-5D93-4C33A44DB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509253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E33A2CA-D2CD-E479-8A48-509CB2603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6477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85C7-46FC-4066-B9D3-B0D0DB80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83F-E01A-3D4D-8D22-1A7C0A61178D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B8B-54A4-4A15-BB63-FCDC3A44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CEAC-1427-4BEA-8982-30CAE04D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A1A33F-C20C-1CDE-623B-7FC7EDF1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DE0BF2DB-0832-4566-69F6-92EB2A52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0517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709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654A-FDE6-4601-9D75-FA956B13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03000" y="5049000"/>
            <a:ext cx="1818000" cy="360000"/>
          </a:xfrm>
        </p:spPr>
        <p:txBody>
          <a:bodyPr/>
          <a:lstStyle/>
          <a:p>
            <a:fld id="{AD84D972-628C-144F-8C1B-117CDE23ADC4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F030-2FCB-40E4-B64D-2629C80F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852000" y="1980000"/>
            <a:ext cx="4320000" cy="360000"/>
          </a:xfrm>
        </p:spPr>
        <p:txBody>
          <a:bodyPr lIns="180000"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8C35-D10B-42B0-92F4-58D676FE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11652000" y="6318000"/>
            <a:ext cx="720000" cy="360000"/>
          </a:xfrm>
        </p:spPr>
        <p:txBody>
          <a:bodyPr rIns="180000"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Vertical Title 1">
            <a:extLst>
              <a:ext uri="{FF2B5EF4-FFF2-40B4-BE49-F238E27FC236}">
                <a16:creationId xmlns:a16="http://schemas.microsoft.com/office/drawing/2014/main" id="{8C5866D0-6FAE-8EEC-55D0-2C1688813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0630C8C6-33E4-158A-A770-1398B1FFC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6613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E583304-1B26-4F40-85EB-2BBCFC8905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4754103B-9389-ABC1-C3DF-1A60CCAB95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9" t="27767" r="-329" b="30434"/>
          <a:stretch/>
        </p:blipFill>
        <p:spPr>
          <a:xfrm>
            <a:off x="8295206" y="5788359"/>
            <a:ext cx="3617046" cy="88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35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E583304-1B26-4F40-85EB-2BBCFC8905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460202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1AD0E7-7BAB-4DBC-97D9-D958CAF59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pic>
        <p:nvPicPr>
          <p:cNvPr id="4" name="Bildobjekt 3">
            <a:extLst>
              <a:ext uri="{FF2B5EF4-FFF2-40B4-BE49-F238E27FC236}">
                <a16:creationId xmlns:a16="http://schemas.microsoft.com/office/drawing/2014/main" id="{550ABBE2-AEBA-2CAC-E080-C5B473A6EA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9" t="27767" r="-329" b="30434"/>
          <a:stretch/>
        </p:blipFill>
        <p:spPr>
          <a:xfrm>
            <a:off x="8295206" y="5788359"/>
            <a:ext cx="3617046" cy="88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94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1AD0E7-7BAB-4DBC-97D9-D958CAF59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85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083048-DEF2-45EE-9ADC-1B9A3314BD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75322-5373-499E-AF2D-2170CC9A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9242"/>
            <a:ext cx="10515600" cy="190975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AD21B-931A-4064-8D73-165D96D91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02800"/>
            <a:ext cx="10515600" cy="262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D274-9D58-4C59-BF24-08319E8A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C7EC-3BAF-A746-B828-B95B4F274C77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F1B3-BEF7-476C-9C24-6F6824C2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CECA-8742-4DDD-8038-0C0682EA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955468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5F28-9CA8-4998-8631-C03E7886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C860-BB16-4E0C-B870-8B2366E75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254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96C9-5579-4CED-A338-A836AEE0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96A5-407E-0148-B22C-2F9D8A977183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41CD-1A6A-456B-BCAE-4B73471B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F9EE-7694-4BC1-BDBC-514D317E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5">
            <a:extLst>
              <a:ext uri="{FF2B5EF4-FFF2-40B4-BE49-F238E27FC236}">
                <a16:creationId xmlns:a16="http://schemas.microsoft.com/office/drawing/2014/main" id="{D2B6CEC0-7FA1-4DD6-9711-E98236C44181}"/>
              </a:ext>
            </a:extLst>
          </p:cNvPr>
          <p:cNvCxnSpPr>
            <a:cxnSpLocks/>
          </p:cNvCxnSpPr>
          <p:nvPr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EF96D78-7046-4339-A27B-A2E54F7E7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76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5D60-9FEA-4061-AE29-F7A1A0AE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D652D-D723-4261-9B8C-661B6699F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9"/>
            <a:ext cx="5181600" cy="4241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2E162-7D8A-446C-B6C3-D85896811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254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DECF-AB46-421A-B3EA-954167E5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34A7-DB8B-9B41-910C-2CF55AF33150}" type="datetime1">
              <a:rPr lang="sv-SE" smtClean="0"/>
              <a:t>2025-11-03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B67D-8CC2-4E5B-BF93-6B7E5BF4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80C1-A5DA-4E08-8CAE-B47DD97A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5">
            <a:extLst>
              <a:ext uri="{FF2B5EF4-FFF2-40B4-BE49-F238E27FC236}">
                <a16:creationId xmlns:a16="http://schemas.microsoft.com/office/drawing/2014/main" id="{1DBCDB3C-6D20-4691-BDE2-381FEEBC114C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6BE1A0F-94CD-4198-BF55-0444B608B4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91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C1DA-1DF7-4806-9BFE-693752D8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AEAAB-6C1D-4159-B092-4584A8886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35E44-E48F-4B64-BC38-36AE1423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85"/>
            <a:ext cx="5157787" cy="3571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40FBBF-9493-4795-A84B-B36E22050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B4785-7E60-4E95-8686-807938974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85"/>
            <a:ext cx="5183188" cy="3568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B86A-85B7-4456-A609-BB084D0B2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03F4-E9E2-3342-AC93-D695E9586D98}" type="datetime1">
              <a:rPr lang="sv-SE" smtClean="0"/>
              <a:t>2025-11-03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08846-8A71-4321-93F6-BFCE99CB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CCA9-80F4-4FE7-B4FD-9FB65454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13" name="Rak 5">
            <a:extLst>
              <a:ext uri="{FF2B5EF4-FFF2-40B4-BE49-F238E27FC236}">
                <a16:creationId xmlns:a16="http://schemas.microsoft.com/office/drawing/2014/main" id="{EC927C92-6210-4B4D-895A-19AADBEF8F6E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72B713E-9B25-4551-8C9B-6BC99E5E4E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42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3FE9-5F5B-413D-B4E8-BD7E2968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82EEB-76C9-46A2-8992-24100BBA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19D5B-AC5F-1D45-9295-D6F35A91C2C9}" type="datetime1">
              <a:rPr lang="sv-SE" smtClean="0"/>
              <a:t>2025-11-03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3176-8332-460F-839F-8C36305C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BA3FD-78E6-4451-96E1-12B31AC3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5">
            <a:extLst>
              <a:ext uri="{FF2B5EF4-FFF2-40B4-BE49-F238E27FC236}">
                <a16:creationId xmlns:a16="http://schemas.microsoft.com/office/drawing/2014/main" id="{95DA7626-B115-4C4F-9B3C-FE5B663044E7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FB99031-EEFF-4AFA-A3F5-072DD362F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475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CBC0-C319-4952-8F5C-99292872E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D48A-CAE5-C84B-A647-F49494EFDA79}" type="datetime1">
              <a:rPr lang="sv-SE" smtClean="0"/>
              <a:t>2025-11-03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394A-EC6D-4B1F-8267-B06B1013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F935-E895-4D21-A182-6E15EDC7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5">
            <a:extLst>
              <a:ext uri="{FF2B5EF4-FFF2-40B4-BE49-F238E27FC236}">
                <a16:creationId xmlns:a16="http://schemas.microsoft.com/office/drawing/2014/main" id="{97E9F04A-B552-451B-920C-ED4546809656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56AFAAA-8AD3-4AB3-8A46-2BD968391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704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80A2-67AA-45AE-A4A3-02C24D5D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FC7A9-016D-4F8D-95F8-AE268FFCD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50925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E2521-9433-4ED7-A38E-EB976F0B3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EBBB-5F59-4CE5-8F95-88A1C188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069A-9C67-E843-A051-20111198E023}" type="datetime1">
              <a:rPr lang="sv-SE" smtClean="0"/>
              <a:t>2025-11-03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4F3F-4FD6-423B-8630-86753663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012F-A692-4BBB-B0E2-A40D6C39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26" name="Rak 5">
            <a:extLst>
              <a:ext uri="{FF2B5EF4-FFF2-40B4-BE49-F238E27FC236}">
                <a16:creationId xmlns:a16="http://schemas.microsoft.com/office/drawing/2014/main" id="{125440BF-FF8E-4F55-AC91-862AB2B62D8D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45A0DCF-3090-4EFD-A929-4799EE649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361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8F90-6F0B-4082-A03A-25C0D0EE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E1322-944E-410B-A503-071D16B24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509253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6F69F-E2CD-4CAC-B28E-04F7F59CD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19C-D6E1-438D-B01E-CF6E63D0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66F6-D8A7-EA46-BB4B-3C04081A8C95}" type="datetime1">
              <a:rPr lang="sv-SE" smtClean="0"/>
              <a:t>2025-11-03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FECA-0FDF-4E93-B1B1-6CF623CF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D90-D9E3-425D-B3DC-406845F9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5">
            <a:extLst>
              <a:ext uri="{FF2B5EF4-FFF2-40B4-BE49-F238E27FC236}">
                <a16:creationId xmlns:a16="http://schemas.microsoft.com/office/drawing/2014/main" id="{65E233A8-C457-415A-B25B-AC4916975090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1FF50F7-D655-41A2-BC16-00FE7DA2E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635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7040-A9FD-4D9F-927E-3D89FFE8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F4497-9EDB-4DEA-8405-69C17F3AB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85C7-46FC-4066-B9D3-B0D0DB80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E9693-29DA-C242-AC0C-8F08E50D3E01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B8B-54A4-4A15-BB63-FCDC3A44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CEAC-1427-4BEA-8982-30CAE04D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8918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31E45-D6F3-4F73-BEDF-5BEDAFC5A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266AE-17DB-428F-A2F6-8D0CA1386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654A-FDE6-4601-9D75-FA956B13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03000" y="5049000"/>
            <a:ext cx="1818000" cy="360000"/>
          </a:xfrm>
        </p:spPr>
        <p:txBody>
          <a:bodyPr/>
          <a:lstStyle/>
          <a:p>
            <a:fld id="{EB38C32D-A51F-C743-B0D8-2864DD9004EC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F030-2FCB-40E4-B64D-2629C80F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852000" y="1980000"/>
            <a:ext cx="4320000" cy="360000"/>
          </a:xfrm>
        </p:spPr>
        <p:txBody>
          <a:bodyPr lIns="180000"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8C35-D10B-42B0-92F4-58D676FE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11652000" y="6318000"/>
            <a:ext cx="720000" cy="360000"/>
          </a:xfrm>
        </p:spPr>
        <p:txBody>
          <a:bodyPr rIns="180000"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212727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CB7FB109-45DC-ADBA-7AA2-512DD193CA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40EFF5-A8E0-7DAD-176F-E72BFF13C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17FB3B5-4F42-D632-D63B-83B116FF6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437FD2EF-4B17-F5E2-6A4C-F8FFF2B431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612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CB7FB109-45DC-ADBA-7AA2-512DD193CA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17FB3B5-4F42-D632-D63B-83B116FF6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4B1FBD-A2E6-E934-6F2C-03A6186F3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50081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985A5729-B659-E951-EEB5-314BA0802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50F64-F221-605C-0587-D50232167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7E6BB3-F45B-054C-44C0-8D5C86076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34F3A5D0-40D7-29AD-1356-B4F77C3F98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226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985A5729-B659-E951-EEB5-314BA0802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50F64-F221-605C-0587-D50232167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7E6BB3-F45B-054C-44C0-8D5C86076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388883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59751289-D358-02B3-9919-BE934D9080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2CCAC34-4500-80FA-6E65-692C400A2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17BF761-9343-4E2F-3C71-38F372AD9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1829EB0B-44C0-39CE-780C-0AF805AF6A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22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52BFCD16-5E25-DB3D-7D94-D38EC37C4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904AC8-96B1-A5E5-4841-521DD8EFB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D4B3162-9EDA-1153-EAC7-AD6D63E29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64699DD8-C60B-034E-04A6-03EBB53CFF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577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CE7E7DA1-E726-7946-2185-4D97D7D384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42B9A6-B68C-22E2-A042-7696F095F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BAA0D17-D7EA-2CF0-7656-B442B781F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43BB5222-40E9-7F70-47C7-64942FE824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118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B19AC1D3-1B14-FDA9-3483-19F8FACB6E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EF023FD-B025-4F18-7F62-242EEAFCF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BDEA4E6-6CDC-79FF-90AC-A5B563594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C832D8E5-4AF6-8C9B-2055-88E3585826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108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04A67895-6CF4-91E5-8796-020466C22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D63F06-CA2C-7719-E422-C0E3AA391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8811642-4F3A-62E0-0C7F-4A9BC473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54731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551C479B-874C-F9DD-5403-698458920D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F7A746-BE8D-3A16-666F-3A5C83F0B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6B0FFC9-DE55-9168-6369-57A3F55E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679866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897D1D43-0B93-CCFA-6D7E-83BE95D47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4808BC3-1193-3C00-32BD-BB91001D4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7B13D68-5CAB-94BB-A55E-510F53ECF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853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ACA550EA-F544-F241-9F1D-293838448071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95614DB-B4BD-B118-CFF9-882C1BFE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93FF054-CAE4-221B-109C-59EBA538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7324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76" r:id="rId2"/>
    <p:sldLayoutId id="2147483859" r:id="rId3"/>
    <p:sldLayoutId id="2147483877" r:id="rId4"/>
    <p:sldLayoutId id="214748386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 userDrawn="1">
          <p15:clr>
            <a:srgbClr val="F26B43"/>
          </p15:clr>
        </p15:guide>
        <p15:guide id="12" pos="7083" userDrawn="1">
          <p15:clr>
            <a:srgbClr val="F26B43"/>
          </p15:clr>
        </p15:guide>
        <p15:guide id="13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40FA7-E471-44B9-9D5D-7D0B44EE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0C30D-C99C-4CD5-B7FD-541C85BF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0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4A82310E-5B4D-5E4A-9458-F175B0C05AA9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48173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5" r:id="rId1"/>
    <p:sldLayoutId id="2147483878" r:id="rId2"/>
    <p:sldLayoutId id="2147483856" r:id="rId3"/>
    <p:sldLayoutId id="2147483879" r:id="rId4"/>
    <p:sldLayoutId id="2147483857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 userDrawn="1">
          <p15:clr>
            <a:srgbClr val="F26B43"/>
          </p15:clr>
        </p15:guide>
        <p15:guide id="12" pos="7083" userDrawn="1">
          <p15:clr>
            <a:srgbClr val="F26B43"/>
          </p15:clr>
        </p15:guide>
        <p15:guide id="13" orient="horz" pos="216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BE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6151E9D-67B4-08D2-691C-8AF8CD9F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1B741C9-6AA6-F26F-9A01-4F1A2150E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13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80" r:id="rId2"/>
    <p:sldLayoutId id="2147483863" r:id="rId3"/>
    <p:sldLayoutId id="2147483881" r:id="rId4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0D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E5EF535-F295-A5A9-2A7A-88628C2C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DEEA3B-5EA6-0E73-0502-6AC7FCC59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6247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0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38878DD-E2F8-7CF9-6E82-7C05630F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C5E8A3-130E-3D62-4C7B-8594B9756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151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D1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068B71B-1B92-8705-C30C-A98052D2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43CB22F-037D-6BFA-206E-B9C4F88CC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9735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CD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C5E34EB-7EBA-EBB9-1639-47D7EE0C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C50C888-B1D7-4AB4-11CD-BFEDD387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9971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7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FE4DCDB-D222-D978-896C-A951403C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98B7437-899A-3D4A-4380-F13BF4EA8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1312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68BB9-9158-C213-D98D-159E880B4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iU50_ENG_16x9 HD_white">
            <a:hlinkClick r:id="" action="ppaction://media"/>
            <a:extLst>
              <a:ext uri="{FF2B5EF4-FFF2-40B4-BE49-F238E27FC236}">
                <a16:creationId xmlns:a16="http://schemas.microsoft.com/office/drawing/2014/main" id="{2A5266AD-DE07-EB81-E039-8EEF162EBC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4763"/>
            <a:ext cx="12192000" cy="6858000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AF90398F-FD45-7834-B7EB-D4FE4D1326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40" y="11113"/>
            <a:ext cx="12172960" cy="685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0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7"/>
            </p:par>
            <p:video>
              <p:cMediaNode vol="80000">
                <p:cTn id="8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133F-0CA7-1A54-6FA2-48D7D1FE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035FB2-1790-51B5-17B6-0E9FF6D9C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noProof="0" dirty="0"/>
              <a:t>Agentic case: </a:t>
            </a:r>
            <a:br>
              <a:rPr lang="en-GB" noProof="0" dirty="0"/>
            </a:br>
            <a:r>
              <a:rPr lang="en-GB" dirty="0">
                <a:solidFill>
                  <a:srgbClr val="FFC000"/>
                </a:solidFill>
              </a:rPr>
              <a:t>E</a:t>
            </a:r>
            <a:r>
              <a:rPr lang="en-GB" noProof="0" dirty="0" err="1">
                <a:solidFill>
                  <a:srgbClr val="FFC000"/>
                </a:solidFill>
              </a:rPr>
              <a:t>xtracting</a:t>
            </a:r>
            <a:r>
              <a:rPr lang="en-GB" noProof="0" dirty="0">
                <a:solidFill>
                  <a:srgbClr val="FFC000"/>
                </a:solidFill>
              </a:rPr>
              <a:t> and querying product information from PDF </a:t>
            </a:r>
            <a:r>
              <a:rPr lang="en-GB" noProof="0" dirty="0" err="1">
                <a:solidFill>
                  <a:srgbClr val="FFC000"/>
                </a:solidFill>
              </a:rPr>
              <a:t>catalogs</a:t>
            </a:r>
            <a:r>
              <a:rPr lang="en-GB" noProof="0" dirty="0">
                <a:solidFill>
                  <a:srgbClr val="FFC000"/>
                </a:solidFill>
              </a:rPr>
              <a:t>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CA3995-5AC5-2BCE-B3F0-2C89029665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 err="1"/>
              <a:t>Hydroscand_Hoses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9136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6C7F-8BF6-4732-9513-07760A5A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noProof="0" dirty="0"/>
              <a:t>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49047-51DC-CBC4-4583-6262A831884C}"/>
              </a:ext>
            </a:extLst>
          </p:cNvPr>
          <p:cNvSpPr txBox="1"/>
          <p:nvPr/>
        </p:nvSpPr>
        <p:spPr>
          <a:xfrm>
            <a:off x="1436036" y="1563692"/>
            <a:ext cx="8732827" cy="29238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u="sng" noProof="0" dirty="0">
                <a:latin typeface="+mj-lt"/>
              </a:rPr>
              <a:t>Problem</a:t>
            </a:r>
            <a:r>
              <a:rPr lang="en-GB" sz="2400" b="1" noProof="0" dirty="0">
                <a:latin typeface="+mj-lt"/>
              </a:rPr>
              <a:t>:</a:t>
            </a:r>
          </a:p>
          <a:p>
            <a:pPr>
              <a:buNone/>
            </a:pPr>
            <a:endParaRPr lang="en-GB" sz="2000" b="1" noProof="0" dirty="0">
              <a:latin typeface="+mj-lt"/>
            </a:endParaRPr>
          </a:p>
          <a:p>
            <a:pPr>
              <a:buNone/>
            </a:pPr>
            <a:r>
              <a:rPr lang="en-GB" sz="2000" noProof="0" dirty="0">
                <a:latin typeface="+mj-lt"/>
              </a:rPr>
              <a:t>In aircraft design (like at </a:t>
            </a:r>
            <a:r>
              <a:rPr lang="en-GB" sz="2000" b="1" noProof="0" dirty="0">
                <a:latin typeface="+mj-lt"/>
              </a:rPr>
              <a:t>Saab</a:t>
            </a:r>
            <a:r>
              <a:rPr lang="en-GB" sz="2000" noProof="0" dirty="0">
                <a:latin typeface="+mj-lt"/>
              </a:rPr>
              <a:t>), every fastener, rivet, or bolt used in a 3D CAD model must comply with strict </a:t>
            </a:r>
            <a:r>
              <a:rPr lang="en-GB" sz="2000" b="1" noProof="0" dirty="0">
                <a:latin typeface="+mj-lt"/>
              </a:rPr>
              <a:t>regulatory and design standards (RDS = Regulatory Design Standards)</a:t>
            </a:r>
            <a:r>
              <a:rPr lang="en-GB" sz="2000" noProof="0" dirty="0">
                <a:latin typeface="+mj-lt"/>
              </a:rPr>
              <a:t> — things like tightening torque, hole tolerances, and installation notes.</a:t>
            </a:r>
          </a:p>
          <a:p>
            <a:pPr>
              <a:buNone/>
            </a:pPr>
            <a:br>
              <a:rPr lang="en-GB" sz="2000" noProof="0" dirty="0">
                <a:latin typeface="+mj-lt"/>
              </a:rPr>
            </a:br>
            <a:r>
              <a:rPr lang="en-GB" sz="2000" noProof="0" dirty="0">
                <a:latin typeface="+mj-lt"/>
              </a:rPr>
              <a:t>Today, engineers often </a:t>
            </a:r>
            <a:r>
              <a:rPr lang="en-GB" sz="2000" b="1" noProof="0" dirty="0">
                <a:latin typeface="+mj-lt"/>
              </a:rPr>
              <a:t>look these up manually</a:t>
            </a:r>
            <a:r>
              <a:rPr lang="en-GB" sz="2000" noProof="0" dirty="0">
                <a:latin typeface="+mj-lt"/>
              </a:rPr>
              <a:t> in series of PDF documentation or manuals, which is time-consuming and error-prone.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FC1EE-5D8E-F5BE-E160-84875712A4B7}"/>
              </a:ext>
            </a:extLst>
          </p:cNvPr>
          <p:cNvSpPr txBox="1"/>
          <p:nvPr/>
        </p:nvSpPr>
        <p:spPr>
          <a:xfrm>
            <a:off x="1436036" y="4890126"/>
            <a:ext cx="8732827" cy="92333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noProof="0" dirty="0">
                <a:latin typeface="+mj-lt"/>
              </a:rPr>
              <a:t>What if an engineer could, by </a:t>
            </a:r>
            <a:r>
              <a:rPr lang="en-GB" b="1" noProof="0" dirty="0">
                <a:latin typeface="+mj-lt"/>
              </a:rPr>
              <a:t>right-clicking</a:t>
            </a:r>
            <a:r>
              <a:rPr lang="en-GB" noProof="0" dirty="0">
                <a:latin typeface="+mj-lt"/>
              </a:rPr>
              <a:t> a part (say, a bolt) in the 3D CAD viewer, instantly find the </a:t>
            </a:r>
            <a:r>
              <a:rPr lang="en-GB" b="1" noProof="0" dirty="0">
                <a:latin typeface="+mj-lt"/>
              </a:rPr>
              <a:t>correct installation instructions or parameters</a:t>
            </a:r>
            <a:r>
              <a:rPr lang="en-GB" noProof="0" dirty="0">
                <a:latin typeface="+mj-lt"/>
              </a:rPr>
              <a:t>, automatically derived from the appropriate standards, all </a:t>
            </a:r>
            <a:r>
              <a:rPr lang="en-GB" u="sng" noProof="0" dirty="0">
                <a:latin typeface="+mj-lt"/>
              </a:rPr>
              <a:t>via a context menu</a:t>
            </a:r>
            <a:r>
              <a:rPr lang="en-GB" u="sng" dirty="0">
                <a:latin typeface="+mj-lt"/>
              </a:rPr>
              <a:t>?</a:t>
            </a:r>
            <a:endParaRPr lang="en-GB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676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A4713-F102-4651-5A40-6AB06EA84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98D5-F871-EF41-AA3F-EB2F4D16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noProof="0" dirty="0"/>
              <a:t>Example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C4591-DFF7-F939-83F3-C2E4A967BDFB}"/>
              </a:ext>
            </a:extLst>
          </p:cNvPr>
          <p:cNvSpPr txBox="1"/>
          <p:nvPr/>
        </p:nvSpPr>
        <p:spPr>
          <a:xfrm>
            <a:off x="1398801" y="1528767"/>
            <a:ext cx="939439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An engineer highlights a bolt in the 3D viewer (e.g., </a:t>
            </a:r>
            <a:r>
              <a:rPr lang="en-GB" b="1" noProof="0" dirty="0">
                <a:latin typeface="+mj-lt"/>
              </a:rPr>
              <a:t>Catia Composer</a:t>
            </a:r>
            <a:r>
              <a:rPr lang="en-GB" noProof="0" dirty="0">
                <a:latin typeface="+mj-lt"/>
              </a:rPr>
              <a:t>).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They right-click and choose a category such as “Installation”.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The AI agent </a:t>
            </a:r>
            <a:r>
              <a:rPr lang="en-GB" noProof="0" dirty="0" err="1">
                <a:latin typeface="+mj-lt"/>
              </a:rPr>
              <a:t>analyzes</a:t>
            </a:r>
            <a:r>
              <a:rPr lang="en-GB" noProof="0" dirty="0">
                <a:latin typeface="+mj-lt"/>
              </a:rPr>
              <a:t> the </a:t>
            </a:r>
            <a:r>
              <a:rPr lang="en-GB" b="1" noProof="0" dirty="0">
                <a:latin typeface="+mj-lt"/>
              </a:rPr>
              <a:t>part’s metadata</a:t>
            </a:r>
            <a:r>
              <a:rPr lang="en-GB" noProof="0" dirty="0">
                <a:latin typeface="+mj-lt"/>
              </a:rPr>
              <a:t>, e.g. STD4305-05007.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STD4305 → the standard/specification defining the bolt type.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05007 → dimensions (5 mm diameter, 7 mm clamp length).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The agent looks up relevant </a:t>
            </a:r>
            <a:r>
              <a:rPr lang="en-GB" b="1" noProof="0" dirty="0">
                <a:latin typeface="+mj-lt"/>
              </a:rPr>
              <a:t>standard documents (STD codes)</a:t>
            </a:r>
            <a:r>
              <a:rPr lang="en-GB" noProof="0" dirty="0">
                <a:latin typeface="+mj-lt"/>
              </a:rPr>
              <a:t> that specify torque, washers, etc.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It returns a concise card showing: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Torque range (e.g. </a:t>
            </a:r>
            <a:r>
              <a:rPr lang="en-GB" i="1" noProof="0" dirty="0">
                <a:latin typeface="+mj-lt"/>
              </a:rPr>
              <a:t>3.4–4.8 Nm</a:t>
            </a:r>
            <a:r>
              <a:rPr lang="en-GB" noProof="0" dirty="0">
                <a:latin typeface="+mj-lt"/>
              </a:rPr>
              <a:t>)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Required washers, sealing compound, inspection method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GB" noProof="0" dirty="0">
                <a:latin typeface="+mj-lt"/>
              </a:rPr>
              <a:t>Links to the </a:t>
            </a:r>
            <a:r>
              <a:rPr lang="en-GB" b="1" noProof="0" dirty="0">
                <a:latin typeface="+mj-lt"/>
              </a:rPr>
              <a:t>exact regulatory tables</a:t>
            </a:r>
            <a:r>
              <a:rPr lang="en-GB" noProof="0" dirty="0">
                <a:latin typeface="+mj-lt"/>
              </a:rPr>
              <a:t> used.</a:t>
            </a:r>
          </a:p>
          <a:p>
            <a:pPr>
              <a:spcAft>
                <a:spcPts val="600"/>
              </a:spcAft>
              <a:buNone/>
            </a:pPr>
            <a:r>
              <a:rPr lang="en-GB" noProof="0" dirty="0">
                <a:latin typeface="+mj-lt"/>
              </a:rPr>
              <a:t>Result: the system effectively </a:t>
            </a:r>
            <a:r>
              <a:rPr lang="en-GB" b="1" noProof="0" dirty="0">
                <a:latin typeface="+mj-lt"/>
              </a:rPr>
              <a:t>generates the RDS section automatically</a:t>
            </a:r>
            <a:r>
              <a:rPr lang="en-GB" noProof="0" dirty="0">
                <a:latin typeface="+mj-lt"/>
              </a:rPr>
              <a:t>, saving manual lookup time.</a:t>
            </a:r>
          </a:p>
        </p:txBody>
      </p:sp>
    </p:spTree>
    <p:extLst>
      <p:ext uri="{BB962C8B-B14F-4D97-AF65-F5344CB8AC3E}">
        <p14:creationId xmlns:p14="http://schemas.microsoft.com/office/powerpoint/2010/main" val="252305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57361-B478-BC6C-4D4E-A7DEB72CB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F6170-CC10-5D51-CB51-DC7AAB5E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noProof="0" dirty="0"/>
              <a:t>Core capabilities required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6F7C0-8F34-1D7D-F4C0-1BFA8C663772}"/>
              </a:ext>
            </a:extLst>
          </p:cNvPr>
          <p:cNvSpPr txBox="1"/>
          <p:nvPr/>
        </p:nvSpPr>
        <p:spPr>
          <a:xfrm>
            <a:off x="1352549" y="1690692"/>
            <a:ext cx="92868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>
                <a:solidFill>
                  <a:srgbClr val="FF0000"/>
                </a:solidFill>
                <a:latin typeface="+mj-lt"/>
              </a:rPr>
              <a:t>CAD-to-Standard Mapping</a:t>
            </a:r>
            <a:br>
              <a:rPr lang="en-GB" noProof="0" dirty="0">
                <a:latin typeface="+mj-lt"/>
              </a:rPr>
            </a:br>
            <a:r>
              <a:rPr lang="en-GB" noProof="0" dirty="0">
                <a:latin typeface="+mj-lt"/>
              </a:rPr>
              <a:t>Interpret part codes, parse attributes (e.g., size, standard, clamp length), and find matching entries in the regulation database.</a:t>
            </a:r>
          </a:p>
          <a:p>
            <a:pPr>
              <a:buFont typeface="+mj-lt"/>
              <a:buAutoNum type="arabicPeriod"/>
            </a:pPr>
            <a:endParaRPr lang="en-GB" noProof="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>
                <a:solidFill>
                  <a:srgbClr val="FF0000"/>
                </a:solidFill>
                <a:latin typeface="+mj-lt"/>
              </a:rPr>
              <a:t>On-the-Fly RDS Generation</a:t>
            </a:r>
            <a:br>
              <a:rPr lang="en-GB" noProof="0" dirty="0">
                <a:latin typeface="+mj-lt"/>
              </a:rPr>
            </a:br>
            <a:r>
              <a:rPr lang="en-GB" noProof="0" dirty="0">
                <a:latin typeface="+mj-lt"/>
              </a:rPr>
              <a:t>Combine all relevant parameters (torque, tooling, cleaning, sealing, etc.) into a </a:t>
            </a:r>
            <a:r>
              <a:rPr lang="en-GB" b="1" noProof="0" dirty="0">
                <a:latin typeface="+mj-lt"/>
              </a:rPr>
              <a:t>compact, human-readable instruction sheet</a:t>
            </a:r>
            <a:r>
              <a:rPr lang="en-GB" noProof="0" dirty="0">
                <a:latin typeface="+mj-lt"/>
              </a:rPr>
              <a:t>, essentially an automated “mini-RDS” document.</a:t>
            </a:r>
          </a:p>
          <a:p>
            <a:pPr>
              <a:buFont typeface="+mj-lt"/>
              <a:buAutoNum type="arabicPeriod"/>
            </a:pPr>
            <a:endParaRPr lang="en-GB" noProof="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>
                <a:solidFill>
                  <a:srgbClr val="FF0000"/>
                </a:solidFill>
                <a:latin typeface="+mj-lt"/>
              </a:rPr>
              <a:t>Explainability</a:t>
            </a:r>
            <a:br>
              <a:rPr lang="en-GB" noProof="0" dirty="0">
                <a:latin typeface="+mj-lt"/>
              </a:rPr>
            </a:br>
            <a:r>
              <a:rPr lang="en-GB" noProof="0" dirty="0">
                <a:latin typeface="+mj-lt"/>
              </a:rPr>
              <a:t>Every returned value must cite the </a:t>
            </a:r>
            <a:r>
              <a:rPr lang="en-GB" b="1" noProof="0" dirty="0">
                <a:latin typeface="+mj-lt"/>
              </a:rPr>
              <a:t>source STD document and table</a:t>
            </a:r>
            <a:r>
              <a:rPr lang="en-GB" noProof="0" dirty="0">
                <a:latin typeface="+mj-lt"/>
              </a:rPr>
              <a:t>, so the engineer can trace how the AI found it.</a:t>
            </a:r>
          </a:p>
          <a:p>
            <a:pPr>
              <a:buFont typeface="+mj-lt"/>
              <a:buAutoNum type="arabicPeriod"/>
            </a:pPr>
            <a:endParaRPr lang="en-GB" noProof="0" dirty="0">
              <a:solidFill>
                <a:srgbClr val="FF0000"/>
              </a:solidFill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>
                <a:solidFill>
                  <a:srgbClr val="FF0000"/>
                </a:solidFill>
                <a:latin typeface="+mj-lt"/>
              </a:rPr>
              <a:t>Fallback Logic</a:t>
            </a:r>
            <a:br>
              <a:rPr lang="en-GB" noProof="0" dirty="0">
                <a:latin typeface="+mj-lt"/>
              </a:rPr>
            </a:br>
            <a:r>
              <a:rPr lang="en-GB" noProof="0" dirty="0">
                <a:latin typeface="+mj-lt"/>
              </a:rPr>
              <a:t>If a perfect match isn’t found, the AI suggests the </a:t>
            </a:r>
            <a:r>
              <a:rPr lang="en-GB" b="1" noProof="0" dirty="0">
                <a:latin typeface="+mj-lt"/>
              </a:rPr>
              <a:t>closest valid alternative</a:t>
            </a:r>
            <a:r>
              <a:rPr lang="en-GB" noProof="0" dirty="0">
                <a:latin typeface="+mj-lt"/>
              </a:rPr>
              <a:t> and shows its confidence score.</a:t>
            </a:r>
          </a:p>
        </p:txBody>
      </p:sp>
    </p:spTree>
    <p:extLst>
      <p:ext uri="{BB962C8B-B14F-4D97-AF65-F5344CB8AC3E}">
        <p14:creationId xmlns:p14="http://schemas.microsoft.com/office/powerpoint/2010/main" val="75732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5EE80-AB2D-1B1D-230D-3494C3C81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6A92-6ADB-5317-A883-3876A67F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noProof="0" dirty="0"/>
              <a:t>Challenge areas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A90A31-5B97-5291-C7A0-E8373D7C0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302400"/>
              </p:ext>
            </p:extLst>
          </p:nvPr>
        </p:nvGraphicFramePr>
        <p:xfrm>
          <a:off x="927100" y="1990725"/>
          <a:ext cx="10426700" cy="3657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5455275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2473217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noProof="0" dirty="0">
                          <a:latin typeface="+mj-lt"/>
                        </a:rPr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noProof="0" dirty="0">
                          <a:latin typeface="+mj-lt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047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Cross-referencing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Some standards reference others (e.g. STD4314 → STD4323 → torque table). The AI must chain these correctly.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70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Parsing CAD metadata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Must accurately interpret codes like STD4305-05007 to identify standard and dimensions.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84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Regulation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Standards are often in PDF, Excel, or scanned form — need OCR, structure extraction, and indexing.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798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Dead-ends and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When multiple standards overlap, the AI must rank results by relevance.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09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User 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noProof="0" dirty="0">
                          <a:latin typeface="+mj-lt"/>
                        </a:rPr>
                        <a:t>The engineer must stay in control — quick answers, minimal clicks, clear provenance.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48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81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5504B-7FC5-A66B-67A6-AA8223CD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1F218-9FF9-11A5-D14A-A405CC60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noProof="0" dirty="0"/>
              <a:t>In essence: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F5B362-01AF-FADD-273A-0950182680BD}"/>
              </a:ext>
            </a:extLst>
          </p:cNvPr>
          <p:cNvSpPr txBox="1"/>
          <p:nvPr/>
        </p:nvSpPr>
        <p:spPr>
          <a:xfrm>
            <a:off x="1800225" y="2537163"/>
            <a:ext cx="8191500" cy="28792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en-GB" sz="2400" dirty="0">
                <a:latin typeface="+mj-lt"/>
              </a:rPr>
              <a:t>The </a:t>
            </a:r>
            <a:r>
              <a:rPr lang="en-GB" sz="2400" b="1" dirty="0">
                <a:latin typeface="+mj-lt"/>
              </a:rPr>
              <a:t>Saab RDS AI Agent</a:t>
            </a:r>
            <a:r>
              <a:rPr lang="en-GB" sz="2400" dirty="0">
                <a:latin typeface="+mj-lt"/>
              </a:rPr>
              <a:t> is:</a:t>
            </a: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endParaRPr lang="en-GB" sz="2400" dirty="0">
              <a:latin typeface="+mj-lt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en-GB" sz="2400" dirty="0">
                <a:latin typeface="+mj-lt"/>
              </a:rPr>
              <a:t>A context-aware assistant that automatically retrieves and explains regulatory assembly data for fasteners directly inside the CAD environment, turning static documentation into </a:t>
            </a:r>
            <a:r>
              <a:rPr lang="en-GB" sz="2400" b="1" dirty="0">
                <a:latin typeface="+mj-lt"/>
              </a:rPr>
              <a:t>real-time, explainable knowledge.</a:t>
            </a:r>
            <a:endParaRPr lang="en-GB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3610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DF67F-44D4-301D-E58D-154EA98D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E2D7-BC5C-C2ED-A5A2-8D93416C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1801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5D22A-6E1B-CA85-7F0C-2987932F7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EE18-6836-93F5-9C25-BF68DCD68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Find out about the </a:t>
            </a:r>
            <a:r>
              <a:rPr lang="en-GB" noProof="0" dirty="0" err="1"/>
              <a:t>LiU</a:t>
            </a:r>
            <a:r>
              <a:rPr lang="en-GB" noProof="0" dirty="0"/>
              <a:t> graphic profile on </a:t>
            </a:r>
            <a:r>
              <a:rPr lang="en-GB" noProof="0" dirty="0" err="1"/>
              <a:t>Liunet</a:t>
            </a:r>
            <a:endParaRPr lang="en-GB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603E8-3710-B94D-9CDE-5F8215D3F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liuonline.sharepoint.com</a:t>
            </a:r>
          </a:p>
        </p:txBody>
      </p:sp>
    </p:spTree>
    <p:extLst>
      <p:ext uri="{BB962C8B-B14F-4D97-AF65-F5344CB8AC3E}">
        <p14:creationId xmlns:p14="http://schemas.microsoft.com/office/powerpoint/2010/main" val="3417783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84770-DE6F-F1AE-2B11-0AAF7AF9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E740-12A7-FDFF-11CB-ADDDC1C8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noProof="0" dirty="0"/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3650679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CD5CA-900F-1A55-1A26-A8839959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6188-D95C-CC7F-7BA5-3820EFC98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noProof="0" dirty="0"/>
              <a:t>High-level flow: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529175-0378-9605-5FDE-D7DE4D667A71}"/>
              </a:ext>
            </a:extLst>
          </p:cNvPr>
          <p:cNvSpPr txBox="1">
            <a:spLocks/>
          </p:cNvSpPr>
          <p:nvPr/>
        </p:nvSpPr>
        <p:spPr>
          <a:xfrm>
            <a:off x="838200" y="1768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Ingest → Normalize → Knowledge → Serve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A90C1B-FAA5-40C4-E18E-1C13C8C4B656}"/>
              </a:ext>
            </a:extLst>
          </p:cNvPr>
          <p:cNvSpPr txBox="1">
            <a:spLocks/>
          </p:cNvSpPr>
          <p:nvPr/>
        </p:nvSpPr>
        <p:spPr>
          <a:xfrm>
            <a:off x="1549400" y="3101177"/>
            <a:ext cx="9042400" cy="1877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/>
              <a:t>Raw data extraction (</a:t>
            </a:r>
            <a:r>
              <a:rPr lang="en-GB" sz="1800" dirty="0" err="1"/>
              <a:t>harvested.db</a:t>
            </a:r>
            <a:r>
              <a:rPr lang="en-GB" sz="1800" dirty="0"/>
              <a:t>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/>
              <a:t>Structured representation (</a:t>
            </a:r>
            <a:r>
              <a:rPr lang="en-GB" sz="1800" dirty="0" err="1"/>
              <a:t>structured.db</a:t>
            </a:r>
            <a:r>
              <a:rPr lang="en-GB" sz="1800" dirty="0"/>
              <a:t>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/>
              <a:t>Intelligent reasoning (knowledge capture layer)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/>
              <a:t>User interaction (interface)</a:t>
            </a:r>
          </a:p>
        </p:txBody>
      </p:sp>
    </p:spTree>
    <p:extLst>
      <p:ext uri="{BB962C8B-B14F-4D97-AF65-F5344CB8AC3E}">
        <p14:creationId xmlns:p14="http://schemas.microsoft.com/office/powerpoint/2010/main" val="1956532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1882A-6D7B-3ADC-21B7-E44D16AF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47ADA-6EDA-8047-7CE8-38B08DB6A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rPr lang="en-GB" noProof="0" dirty="0"/>
              <a:t>Layer 1: </a:t>
            </a:r>
            <a:br>
              <a:rPr lang="en-GB" noProof="0" dirty="0"/>
            </a:br>
            <a:r>
              <a:rPr lang="en-GB" noProof="0" dirty="0"/>
              <a:t>Harvested Database (Raw Extraction)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130D9-FF0C-6E5B-382E-7E939092B10E}"/>
              </a:ext>
            </a:extLst>
          </p:cNvPr>
          <p:cNvSpPr txBox="1"/>
          <p:nvPr/>
        </p:nvSpPr>
        <p:spPr>
          <a:xfrm>
            <a:off x="838200" y="2123242"/>
            <a:ext cx="556895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GB" b="1" i="0" dirty="0">
                <a:effectLst/>
                <a:latin typeface="+mj-lt"/>
              </a:rPr>
              <a:t>Purpose</a:t>
            </a:r>
          </a:p>
          <a:p>
            <a:pPr algn="l">
              <a:spcAft>
                <a:spcPts val="1200"/>
              </a:spcAft>
              <a:buNone/>
            </a:pPr>
            <a:r>
              <a:rPr lang="en-GB" b="0" i="0" dirty="0">
                <a:effectLst/>
                <a:latin typeface="+mj-lt"/>
              </a:rPr>
              <a:t>Store </a:t>
            </a:r>
            <a:r>
              <a:rPr lang="en-GB" b="1" i="0" dirty="0">
                <a:effectLst/>
                <a:latin typeface="+mj-lt"/>
              </a:rPr>
              <a:t>unprocessed, source-faithful data</a:t>
            </a:r>
            <a:r>
              <a:rPr lang="en-GB" b="0" i="0" dirty="0">
                <a:effectLst/>
                <a:latin typeface="+mj-lt"/>
              </a:rPr>
              <a:t> exactly as extracted from CAD files and PDF documents.</a:t>
            </a:r>
          </a:p>
        </p:txBody>
      </p:sp>
    </p:spTree>
    <p:extLst>
      <p:ext uri="{BB962C8B-B14F-4D97-AF65-F5344CB8AC3E}">
        <p14:creationId xmlns:p14="http://schemas.microsoft.com/office/powerpoint/2010/main" val="3403318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1DA67-2230-C59B-86E3-1D2CAB82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5576-F449-59F2-A07A-6E1A8CC9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rPr lang="en-GB" noProof="0" dirty="0"/>
              <a:t>Layer 1: </a:t>
            </a:r>
            <a:br>
              <a:rPr lang="en-GB" noProof="0" dirty="0"/>
            </a:br>
            <a:r>
              <a:rPr lang="en-GB" noProof="0" dirty="0"/>
              <a:t>Harvested Database (Raw Extraction)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276A76-C008-0D4A-DA2F-27196ECB9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910" y="2551077"/>
            <a:ext cx="7174834" cy="31166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226F08-B33D-5383-36DF-E1CE2AA777F4}"/>
              </a:ext>
            </a:extLst>
          </p:cNvPr>
          <p:cNvSpPr txBox="1"/>
          <p:nvPr/>
        </p:nvSpPr>
        <p:spPr>
          <a:xfrm>
            <a:off x="838200" y="1800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+mj-lt"/>
              </a:rPr>
              <a:t>Stage 3: Table Extraction Strategy</a:t>
            </a:r>
            <a:endParaRPr lang="en-GB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5232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3AEE3-EEAA-99E8-E810-9EFC8A7C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6BED-8C0B-DD33-3F2E-56EDCA1C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rPr lang="en-GB" noProof="0" dirty="0"/>
              <a:t>Layer 1: </a:t>
            </a:r>
            <a:br>
              <a:rPr lang="en-GB" noProof="0" dirty="0"/>
            </a:br>
            <a:r>
              <a:rPr lang="en-GB" noProof="0" dirty="0"/>
              <a:t>Harvested Database (Raw Extraction)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40751-B648-6E0F-1772-F7CF2C0DA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910" y="2551077"/>
            <a:ext cx="7174834" cy="31166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C13EC0-7E6C-EB79-CF5B-BF51B9F27787}"/>
              </a:ext>
            </a:extLst>
          </p:cNvPr>
          <p:cNvSpPr txBox="1"/>
          <p:nvPr/>
        </p:nvSpPr>
        <p:spPr>
          <a:xfrm>
            <a:off x="838200" y="1800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+mj-lt"/>
              </a:rPr>
              <a:t>Stage 3: Table Extraction Strategy</a:t>
            </a:r>
            <a:endParaRPr lang="en-GB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9971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44F6E-A893-2F03-2FC3-D6350BFD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0D1D-6054-ADED-9A92-9B7AC3B1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rPr lang="en-GB" noProof="0" dirty="0"/>
              <a:t>Layer 1: </a:t>
            </a:r>
            <a:br>
              <a:rPr lang="en-GB" noProof="0" dirty="0"/>
            </a:br>
            <a:r>
              <a:rPr lang="en-GB" noProof="0" dirty="0"/>
              <a:t>Harvested Database (Raw Extraction)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4DDB2-3B75-6B8B-5473-860EAD1F8C29}"/>
              </a:ext>
            </a:extLst>
          </p:cNvPr>
          <p:cNvSpPr txBox="1"/>
          <p:nvPr/>
        </p:nvSpPr>
        <p:spPr>
          <a:xfrm>
            <a:off x="838200" y="1800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+mj-lt"/>
              </a:rPr>
              <a:t>Stage 3: Table Extraction Strategy</a:t>
            </a:r>
            <a:endParaRPr lang="en-GB" b="0" i="0" dirty="0">
              <a:effectLst/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24B87A-4E87-09EC-9337-10B219A12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135" y="3300125"/>
            <a:ext cx="2125413" cy="24371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EC1A94-EDB5-A5D7-6656-B7B95E1B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10" y="3074592"/>
            <a:ext cx="2192366" cy="25307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4159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ED492-17F0-DC7E-AAAA-1CBAB101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74EF-D478-9EB0-1FC2-C159A0E0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rPr lang="en-GB" noProof="0" dirty="0"/>
              <a:t>Layer 1: </a:t>
            </a:r>
            <a:br>
              <a:rPr lang="en-GB" noProof="0" dirty="0"/>
            </a:br>
            <a:r>
              <a:rPr lang="en-GB" noProof="0" dirty="0"/>
              <a:t>Harvested Database (Raw Extraction)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5C6BD-6DFE-CAF7-CBF4-C7B9414DF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910" y="2551077"/>
            <a:ext cx="7174834" cy="31166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C40A63-ED3C-D665-7B88-16D6425567BB}"/>
              </a:ext>
            </a:extLst>
          </p:cNvPr>
          <p:cNvSpPr txBox="1"/>
          <p:nvPr/>
        </p:nvSpPr>
        <p:spPr>
          <a:xfrm>
            <a:off x="838200" y="1800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+mj-lt"/>
              </a:rPr>
              <a:t>Stage 3: Table Extraction Strategy</a:t>
            </a:r>
            <a:endParaRPr lang="en-GB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0004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D1411-A7C0-5AE5-CD01-ED8382D6E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67EC-42EE-632B-25C8-17C56D48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noProof="0" dirty="0"/>
              <a:t>L2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5CC88-C73C-2EA3-5674-8255956F2EEB}"/>
              </a:ext>
            </a:extLst>
          </p:cNvPr>
          <p:cNvSpPr txBox="1"/>
          <p:nvPr/>
        </p:nvSpPr>
        <p:spPr>
          <a:xfrm>
            <a:off x="838200" y="1800592"/>
            <a:ext cx="6096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+mj-lt"/>
              </a:rPr>
              <a:t>Layer 2: Structured Database (Canonical Representation)</a:t>
            </a:r>
          </a:p>
          <a:p>
            <a:pPr algn="l">
              <a:spcAft>
                <a:spcPts val="600"/>
              </a:spcAft>
              <a:buNone/>
            </a:pPr>
            <a:endParaRPr lang="en-GB" b="1" i="0" dirty="0">
              <a:effectLst/>
              <a:latin typeface="+mj-lt"/>
            </a:endParaRPr>
          </a:p>
          <a:p>
            <a:pPr algn="l">
              <a:spcAft>
                <a:spcPts val="600"/>
              </a:spcAft>
              <a:buNone/>
            </a:pPr>
            <a:r>
              <a:rPr lang="en-GB" b="1" i="0" dirty="0">
                <a:effectLst/>
                <a:latin typeface="+mj-lt"/>
              </a:rPr>
              <a:t>Purpose</a:t>
            </a:r>
          </a:p>
          <a:p>
            <a:pPr algn="l">
              <a:spcAft>
                <a:spcPts val="1200"/>
              </a:spcAft>
              <a:buNone/>
            </a:pPr>
            <a:r>
              <a:rPr lang="en-GB" b="0" i="0" dirty="0">
                <a:effectLst/>
                <a:latin typeface="+mj-lt"/>
              </a:rPr>
              <a:t>Transform raw harvested data into a </a:t>
            </a:r>
            <a:r>
              <a:rPr lang="en-GB" b="1" i="0" dirty="0">
                <a:effectLst/>
                <a:latin typeface="+mj-lt"/>
              </a:rPr>
              <a:t>normalized, canonical form</a:t>
            </a:r>
            <a:r>
              <a:rPr lang="en-GB" b="0" i="0" dirty="0">
                <a:effectLst/>
                <a:latin typeface="+mj-lt"/>
              </a:rPr>
              <a:t> optimized for reasoning and queries.</a:t>
            </a:r>
          </a:p>
        </p:txBody>
      </p:sp>
    </p:spTree>
    <p:extLst>
      <p:ext uri="{BB962C8B-B14F-4D97-AF65-F5344CB8AC3E}">
        <p14:creationId xmlns:p14="http://schemas.microsoft.com/office/powerpoint/2010/main" val="2798971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D8DA5-3FE5-5E6C-08E4-7C34F9F6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218-40F9-CA6A-C09D-ECB3E91BD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b="1" noProof="0" dirty="0"/>
              <a:t>L3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40EC4-9FFD-63BA-6168-25C67BD7BA3D}"/>
              </a:ext>
            </a:extLst>
          </p:cNvPr>
          <p:cNvSpPr txBox="1"/>
          <p:nvPr/>
        </p:nvSpPr>
        <p:spPr>
          <a:xfrm>
            <a:off x="1171575" y="22866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Declarative Knowledge (Facts)What it stores: "STD4305-05007 is an M5 fastener with 7mm clamp length"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80DE3-7F41-4F8F-B2D2-414AFF57291A}"/>
              </a:ext>
            </a:extLst>
          </p:cNvPr>
          <p:cNvSpPr txBox="1"/>
          <p:nvPr/>
        </p:nvSpPr>
        <p:spPr>
          <a:xfrm>
            <a:off x="1066800" y="400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Alternative: Semantic Triple Store (RDF)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FFE95-04EC-AE4F-FB33-532482878FB1}"/>
              </a:ext>
            </a:extLst>
          </p:cNvPr>
          <p:cNvSpPr txBox="1"/>
          <p:nvPr/>
        </p:nvSpPr>
        <p:spPr>
          <a:xfrm>
            <a:off x="1066800" y="3637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declarative_knowledge.db</a:t>
            </a:r>
            <a:r>
              <a:rPr lang="en-GB" dirty="0"/>
              <a:t> (Option A: Dedicated DB)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8042B-4AF4-260B-020C-42AD54717B97}"/>
              </a:ext>
            </a:extLst>
          </p:cNvPr>
          <p:cNvSpPr txBox="1"/>
          <p:nvPr/>
        </p:nvSpPr>
        <p:spPr>
          <a:xfrm>
            <a:off x="2343150" y="4744998"/>
            <a:ext cx="8648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SQL Pros: Familiar, integrates with existing stack, good for structured queries</a:t>
            </a:r>
          </a:p>
          <a:p>
            <a:r>
              <a:rPr lang="en-GB" dirty="0"/>
              <a:t>RDF Pros: Native semantic relationships, SPARQL queries, ontology reasoning</a:t>
            </a:r>
          </a:p>
          <a:p>
            <a:r>
              <a:rPr lang="en-GB" dirty="0"/>
              <a:t>Recommendation: Start with SQL, migrate to RDF if semantic reasoning becomes critical</a:t>
            </a:r>
          </a:p>
        </p:txBody>
      </p:sp>
    </p:spTree>
    <p:extLst>
      <p:ext uri="{BB962C8B-B14F-4D97-AF65-F5344CB8AC3E}">
        <p14:creationId xmlns:p14="http://schemas.microsoft.com/office/powerpoint/2010/main" val="1067214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82B83-8224-69A6-ADE7-BEDB976D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E0CB-6157-9A64-06E2-C03C68350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b="1" noProof="0" dirty="0"/>
              <a:t>L3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8EFB3-CC8F-5A82-E255-1BF327DDE125}"/>
              </a:ext>
            </a:extLst>
          </p:cNvPr>
          <p:cNvSpPr txBox="1"/>
          <p:nvPr/>
        </p:nvSpPr>
        <p:spPr>
          <a:xfrm>
            <a:off x="1076325" y="22434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Conditional Knowledge (Rules &amp; Logic)</a:t>
            </a:r>
          </a:p>
          <a:p>
            <a:r>
              <a:rPr lang="en-GB" dirty="0"/>
              <a:t>What it stores: "IF fastener is M5 AND material is Steel THEN torque = 3.4-4.8 Nm"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41E62-B4B7-1030-CE66-0B131CA1D237}"/>
              </a:ext>
            </a:extLst>
          </p:cNvPr>
          <p:cNvSpPr txBox="1"/>
          <p:nvPr/>
        </p:nvSpPr>
        <p:spPr>
          <a:xfrm>
            <a:off x="1076325" y="4158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Alternative: Knowledge Graph (Neo4j)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82676E-11FF-114A-98E5-1A14A54757A6}"/>
              </a:ext>
            </a:extLst>
          </p:cNvPr>
          <p:cNvSpPr txBox="1"/>
          <p:nvPr/>
        </p:nvSpPr>
        <p:spPr>
          <a:xfrm>
            <a:off x="1076325" y="37894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conditional_knowledge.db</a:t>
            </a:r>
            <a:r>
              <a:rPr lang="en-GB" dirty="0"/>
              <a:t> (Option A: Rule Engine)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19B347-11D7-5B2E-7848-17D7C7251FCF}"/>
              </a:ext>
            </a:extLst>
          </p:cNvPr>
          <p:cNvSpPr txBox="1"/>
          <p:nvPr/>
        </p:nvSpPr>
        <p:spPr>
          <a:xfrm>
            <a:off x="2305050" y="4781371"/>
            <a:ext cx="9677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Rule Engine Pros: Explicit logic, easier debugging, conflict resolution</a:t>
            </a:r>
          </a:p>
          <a:p>
            <a:r>
              <a:rPr lang="en-GB" dirty="0"/>
              <a:t>Graph Pros: Visual reasoning paths, complex relationship queries, pattern matching</a:t>
            </a:r>
          </a:p>
          <a:p>
            <a:r>
              <a:rPr lang="en-GB" dirty="0"/>
              <a:t>Recommendation: Knowledge graph (Neo4j) for conditional knowledge — natural fit for "IF component has properties X, Y THEN apply requirement Z"</a:t>
            </a:r>
          </a:p>
        </p:txBody>
      </p:sp>
    </p:spTree>
    <p:extLst>
      <p:ext uri="{BB962C8B-B14F-4D97-AF65-F5344CB8AC3E}">
        <p14:creationId xmlns:p14="http://schemas.microsoft.com/office/powerpoint/2010/main" val="3619443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A8FA9-69EF-C667-99E9-FBDB3D51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26A1-A095-0ACD-C10F-5281F134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GB" b="1" noProof="0" dirty="0"/>
              <a:t>L3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B7ECD-F4C8-D540-E668-F7519D9EFD85}"/>
              </a:ext>
            </a:extLst>
          </p:cNvPr>
          <p:cNvSpPr txBox="1"/>
          <p:nvPr/>
        </p:nvSpPr>
        <p:spPr>
          <a:xfrm>
            <a:off x="1219200" y="195167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Procedural Knowledge (Workflows &amp; Processes)</a:t>
            </a:r>
          </a:p>
          <a:p>
            <a:r>
              <a:rPr lang="en-GB" dirty="0"/>
              <a:t>What it stores: "To install fastener: 1) Clean hole, 2) Apply sealant, 3) Insert fastener, 4) Torque to spec"</a:t>
            </a:r>
          </a:p>
          <a:p>
            <a:endParaRPr lang="en-GB" dirty="0"/>
          </a:p>
          <a:p>
            <a:r>
              <a:rPr lang="en-GB" dirty="0" err="1"/>
              <a:t>procedural_knowledge.db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696C3-41CF-0E86-75FE-B8B56F6BFBAA}"/>
              </a:ext>
            </a:extLst>
          </p:cNvPr>
          <p:cNvSpPr txBox="1"/>
          <p:nvPr/>
        </p:nvSpPr>
        <p:spPr>
          <a:xfrm>
            <a:off x="12192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Alternative: BPMN/Workflow Engine Integration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3553B0-E401-774F-6E62-A7E66BB6A5C5}"/>
              </a:ext>
            </a:extLst>
          </p:cNvPr>
          <p:cNvSpPr txBox="1"/>
          <p:nvPr/>
        </p:nvSpPr>
        <p:spPr>
          <a:xfrm>
            <a:off x="2028824" y="4079439"/>
            <a:ext cx="98583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Database-driven vs. Workflow engine?</a:t>
            </a:r>
          </a:p>
          <a:p>
            <a:endParaRPr lang="en-GB" dirty="0"/>
          </a:p>
          <a:p>
            <a:r>
              <a:rPr lang="en-GB" dirty="0"/>
              <a:t>Database Pros: Simple, integrates with SQL stack, easy queries</a:t>
            </a:r>
          </a:p>
          <a:p>
            <a:r>
              <a:rPr lang="en-GB" dirty="0"/>
              <a:t>Workflow Engine Pros: Advanced orchestration, parallel execution, real-time monitoring</a:t>
            </a:r>
          </a:p>
          <a:p>
            <a:r>
              <a:rPr lang="en-GB" dirty="0"/>
              <a:t>Recommendation: Start with database for simplicity, migrate to workflow engine if real-time execution tracking is needed</a:t>
            </a:r>
          </a:p>
        </p:txBody>
      </p:sp>
    </p:spTree>
    <p:extLst>
      <p:ext uri="{BB962C8B-B14F-4D97-AF65-F5344CB8AC3E}">
        <p14:creationId xmlns:p14="http://schemas.microsoft.com/office/powerpoint/2010/main" val="3982669093"/>
      </p:ext>
    </p:extLst>
  </p:cSld>
  <p:clrMapOvr>
    <a:masterClrMapping/>
  </p:clrMapOvr>
</p:sld>
</file>

<file path=ppt/theme/theme1.xml><?xml version="1.0" encoding="utf-8"?>
<a:theme xmlns:a="http://schemas.openxmlformats.org/drawingml/2006/main" name="LiU - WHITE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LiU50_ENG_Komp" id="{38EE776E-1810-C147-BB17-321A107FBD29}" vid="{9DBEF0B3-C2CA-FE46-B83D-6C62861C3639}"/>
    </a:ext>
  </a:extLst>
</a:theme>
</file>

<file path=ppt/theme/theme2.xml><?xml version="1.0" encoding="utf-8"?>
<a:theme xmlns:a="http://schemas.openxmlformats.org/drawingml/2006/main" name="LiU - BLACK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LiU50_ENG_Komp" id="{38EE776E-1810-C147-BB17-321A107FBD29}" vid="{BE0900BA-DFF3-BF41-9497-128C9AE7F60A}"/>
    </a:ext>
  </a:extLst>
</a:theme>
</file>

<file path=ppt/theme/theme3.xml><?xml version="1.0" encoding="utf-8"?>
<a:theme xmlns:a="http://schemas.openxmlformats.org/drawingml/2006/main" name="LiU - TURKOS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LiU50_ENG_Komp" id="{38EE776E-1810-C147-BB17-321A107FBD29}" vid="{41DCA014-3185-F749-BDBC-DA82163EF31D}"/>
    </a:ext>
  </a:extLst>
</a:theme>
</file>

<file path=ppt/theme/theme4.xml><?xml version="1.0" encoding="utf-8"?>
<a:theme xmlns:a="http://schemas.openxmlformats.org/drawingml/2006/main" name="LiU - BLÅ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LiU50_ENG_Komp" id="{38EE776E-1810-C147-BB17-321A107FBD29}" vid="{647AF7DE-886D-E047-97D3-590F181883BF}"/>
    </a:ext>
  </a:extLst>
</a:theme>
</file>

<file path=ppt/theme/theme5.xml><?xml version="1.0" encoding="utf-8"?>
<a:theme xmlns:a="http://schemas.openxmlformats.org/drawingml/2006/main" name="LiU - GRÖN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LiU50_ENG_Komp" id="{38EE776E-1810-C147-BB17-321A107FBD29}" vid="{5D5C5709-2216-E74A-AF5B-766C5CD5D1D6}"/>
    </a:ext>
  </a:extLst>
</a:theme>
</file>

<file path=ppt/theme/theme6.xml><?xml version="1.0" encoding="utf-8"?>
<a:theme xmlns:a="http://schemas.openxmlformats.org/drawingml/2006/main" name="LiU - ORANGE 3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LiU50_ENG_Komp" id="{38EE776E-1810-C147-BB17-321A107FBD29}" vid="{33C774C2-5AFF-F84C-BE5D-6027CC4CDBB2}"/>
    </a:ext>
  </a:extLst>
</a:theme>
</file>

<file path=ppt/theme/theme7.xml><?xml version="1.0" encoding="utf-8"?>
<a:theme xmlns:a="http://schemas.openxmlformats.org/drawingml/2006/main" name="LiU - LILA 3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LiU50_ENG_Komp" id="{38EE776E-1810-C147-BB17-321A107FBD29}" vid="{BEF6110E-635D-944B-8DF8-C4525836E0A3}"/>
    </a:ext>
  </a:extLst>
</a:theme>
</file>

<file path=ppt/theme/theme8.xml><?xml version="1.0" encoding="utf-8"?>
<a:theme xmlns:a="http://schemas.openxmlformats.org/drawingml/2006/main" name="LiU - GUL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LiU50_ENG_Komp" id="{38EE776E-1810-C147-BB17-321A107FBD29}" vid="{E601F4C4-2948-914E-A467-90771589C8D5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A4AE0AC3DCAD4BB03F22558FB4208E" ma:contentTypeVersion="4" ma:contentTypeDescription="Create a new document." ma:contentTypeScope="" ma:versionID="fcee8b2ba07c19dd9facf46cfedc10f3">
  <xsd:schema xmlns:xsd="http://www.w3.org/2001/XMLSchema" xmlns:xs="http://www.w3.org/2001/XMLSchema" xmlns:p="http://schemas.microsoft.com/office/2006/metadata/properties" xmlns:ns2="6e5b8b1e-d2ac-4e46-9dd3-e147fedcbaa7" targetNamespace="http://schemas.microsoft.com/office/2006/metadata/properties" ma:root="true" ma:fieldsID="894033499b1d385d713529369fa47658" ns2:_="">
    <xsd:import namespace="6e5b8b1e-d2ac-4e46-9dd3-e147fedcba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5b8b1e-d2ac-4e46-9dd3-e147fedcba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D1E15F-2219-47BB-B217-8D15AA40C7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5b8b1e-d2ac-4e46-9dd3-e147fedcba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494F70-4955-4DB6-BD54-74471D0903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58BF02-2FD4-48FE-839B-4585173BA8BF}">
  <ds:schemaRefs>
    <ds:schemaRef ds:uri="484986f3-affb-4909-aac7-6cbe78376350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f6351e9a-ea34-4ad9-b922-25ec9d06a7c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 english</Template>
  <TotalTime>1560</TotalTime>
  <Words>974</Words>
  <Application>Microsoft Office PowerPoint</Application>
  <PresentationFormat>Widescreen</PresentationFormat>
  <Paragraphs>98</Paragraphs>
  <Slides>20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Georgia</vt:lpstr>
      <vt:lpstr>KorolevLiU Medium</vt:lpstr>
      <vt:lpstr>LiU - WHITE</vt:lpstr>
      <vt:lpstr>LiU - BLACK</vt:lpstr>
      <vt:lpstr>LiU - TURKOS 50%</vt:lpstr>
      <vt:lpstr>LiU - BLÅ 50%</vt:lpstr>
      <vt:lpstr>LiU - GRÖN 50%</vt:lpstr>
      <vt:lpstr>LiU - ORANGE 30%</vt:lpstr>
      <vt:lpstr>LiU - LILA 30%</vt:lpstr>
      <vt:lpstr>LiU - GUL 50%</vt:lpstr>
      <vt:lpstr>PowerPoint Presentation</vt:lpstr>
      <vt:lpstr>Agentic case:  Extracting and querying product information from PDF catalogs.</vt:lpstr>
      <vt:lpstr>Background</vt:lpstr>
      <vt:lpstr>Example workflow</vt:lpstr>
      <vt:lpstr>Core capabilities required</vt:lpstr>
      <vt:lpstr>Challenge areas</vt:lpstr>
      <vt:lpstr>In essence:</vt:lpstr>
      <vt:lpstr>PowerPoint Presentation</vt:lpstr>
      <vt:lpstr>Find out about the LiU graphic profile on Liunet</vt:lpstr>
      <vt:lpstr>Development</vt:lpstr>
      <vt:lpstr>High-level flow:</vt:lpstr>
      <vt:lpstr>Layer 1:  Harvested Database (Raw Extraction)</vt:lpstr>
      <vt:lpstr>Layer 1:  Harvested Database (Raw Extraction)</vt:lpstr>
      <vt:lpstr>Layer 1:  Harvested Database (Raw Extraction)</vt:lpstr>
      <vt:lpstr>Layer 1:  Harvested Database (Raw Extraction)</vt:lpstr>
      <vt:lpstr>Layer 1:  Harvested Database (Raw Extraction)</vt:lpstr>
      <vt:lpstr>L2</vt:lpstr>
      <vt:lpstr>L3</vt:lpstr>
      <vt:lpstr>L3</vt:lpstr>
      <vt:lpstr>L3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Ikechukwu</dc:creator>
  <cp:lastModifiedBy>Oscar Ikechukwu</cp:lastModifiedBy>
  <cp:revision>5</cp:revision>
  <dcterms:created xsi:type="dcterms:W3CDTF">2025-10-14T14:33:20Z</dcterms:created>
  <dcterms:modified xsi:type="dcterms:W3CDTF">2025-11-03T07:56:43Z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0x010100D1A4AE0AC3DCAD4BB03F22558FB4208E</vt:lpwstr>
  </property>
  <property fmtid="{D5CDD505-2E9C-101B-9397-08002B2CF9AE}" pid="3" name="MediaServiceImageTags">
    <vt:lpwstr/>
  </property>
</Properties>
</file>